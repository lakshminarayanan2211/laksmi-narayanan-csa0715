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Dela Gothic One" panose="020B060402020202020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24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42" y="375940"/>
            <a:ext cx="3293715" cy="4391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336087"/>
            <a:ext cx="4767114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Network Function Virtualization (NFV) and the OSI Architecture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73943" y="3455788"/>
            <a:ext cx="5224314" cy="659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</a:rPr>
              <a:t>Done By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</a:rPr>
              <a:t>E  Lakshmi Narayanan(192524249)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</a:rPr>
              <a:t>B tech(AI&amp;DS)</a:t>
            </a:r>
            <a:endParaRPr lang="en-US" sz="10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4858"/>
            <a:ext cx="8196114" cy="36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is Network Function Virtualization (NFV)?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027361"/>
            <a:ext cx="2690813" cy="2690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43064" y="1771055"/>
            <a:ext cx="5231681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NFV </a:t>
            </a:r>
            <a:r>
              <a:rPr lang="en-US" sz="8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decouples network software from proprietary hardware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enabling network functions to run as software on commodity  servers.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43064" y="2191717"/>
            <a:ext cx="5231681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Benefits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43064" y="2468910"/>
            <a:ext cx="5231681" cy="55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2000"/>
              </a:lnSpc>
              <a:buSzPct val="100000"/>
              <a:buChar char="•"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CapEx and OpEx costs</a:t>
            </a:r>
            <a:endParaRPr lang="en-US" sz="850" dirty="0"/>
          </a:p>
          <a:p>
            <a:pPr marL="172720" indent="-172720" algn="l">
              <a:lnSpc>
                <a:spcPct val="122000"/>
              </a:lnSpc>
              <a:buSzPct val="100000"/>
              <a:buChar char="•"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Rapid deployment and scaling — </a:t>
            </a:r>
            <a:r>
              <a:rPr lang="en-US" sz="8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minutes vs. weeks</a:t>
            </a:r>
            <a:endParaRPr lang="en-US" sz="850" dirty="0"/>
          </a:p>
          <a:p>
            <a:pPr marL="172720" indent="-172720" algn="l">
              <a:lnSpc>
                <a:spcPct val="122000"/>
              </a:lnSpc>
              <a:buSzPct val="100000"/>
              <a:buChar char="•"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Flexible resource allocation on demand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3943" y="3926979"/>
            <a:ext cx="8196114" cy="801588"/>
          </a:xfrm>
          <a:prstGeom prst="roundRect">
            <a:avLst>
              <a:gd name="adj" fmla="val 5876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706" y="3931741"/>
            <a:ext cx="4093294" cy="792063"/>
          </a:xfrm>
          <a:custGeom>
            <a:avLst/>
            <a:gdLst/>
            <a:ahLst/>
            <a:cxnLst/>
            <a:rect l="l" t="t" r="r" b="b"/>
            <a:pathLst>
              <a:path w="4093294" h="792063">
                <a:moveTo>
                  <a:pt x="39249" y="0"/>
                </a:moveTo>
                <a:lnTo>
                  <a:pt x="4093294" y="0"/>
                </a:lnTo>
                <a:lnTo>
                  <a:pt x="4093294" y="792063"/>
                </a:lnTo>
                <a:lnTo>
                  <a:pt x="39249" y="792063"/>
                </a:lnTo>
                <a:arcTo wR="39249" hR="39249" stAng="5400000" swAng="5400000"/>
                <a:lnTo>
                  <a:pt x="0" y="39249"/>
                </a:lnTo>
                <a:arcTo wR="39249" hR="39249" stAng="10800000" swAng="5400000"/>
                <a:close/>
              </a:path>
            </a:pathLst>
          </a:custGeom>
          <a:solidFill>
            <a:srgbClr val="740B0B"/>
          </a:solidFill>
          <a:ln/>
        </p:spPr>
      </p:sp>
      <p:sp>
        <p:nvSpPr>
          <p:cNvPr id="9" name="Text 6"/>
          <p:cNvSpPr/>
          <p:nvPr/>
        </p:nvSpPr>
        <p:spPr>
          <a:xfrm>
            <a:off x="590773" y="4043809"/>
            <a:ext cx="386915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Traditional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0773" y="4283869"/>
            <a:ext cx="3869159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Hardware-bound boxes — Cisco routers, dedicated firewalls, physical appliances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0" y="3931741"/>
            <a:ext cx="4093294" cy="792063"/>
          </a:xfrm>
          <a:custGeom>
            <a:avLst/>
            <a:gdLst/>
            <a:ahLst/>
            <a:cxnLst/>
            <a:rect l="l" t="t" r="r" b="b"/>
            <a:pathLst>
              <a:path w="4093294" h="792063">
                <a:moveTo>
                  <a:pt x="0" y="0"/>
                </a:moveTo>
                <a:lnTo>
                  <a:pt x="4054045" y="0"/>
                </a:lnTo>
                <a:arcTo wR="39249" hR="39249" stAng="16200000" swAng="5400000"/>
                <a:lnTo>
                  <a:pt x="4093294" y="752814"/>
                </a:lnTo>
                <a:arcTo wR="39249" hR="39249" stAng="0" swAng="5400000"/>
                <a:lnTo>
                  <a:pt x="0" y="792063"/>
                </a:lnTo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3931741"/>
            <a:ext cx="14288" cy="792063"/>
          </a:xfrm>
          <a:prstGeom prst="roundRect">
            <a:avLst>
              <a:gd name="adj" fmla="val 49998"/>
            </a:avLst>
          </a:prstGeom>
          <a:solidFill>
            <a:srgbClr val="8D2424"/>
          </a:solidFill>
          <a:ln/>
        </p:spPr>
      </p:sp>
      <p:sp>
        <p:nvSpPr>
          <p:cNvPr id="13" name="Text 10"/>
          <p:cNvSpPr/>
          <p:nvPr/>
        </p:nvSpPr>
        <p:spPr>
          <a:xfrm>
            <a:off x="4684068" y="4043809"/>
            <a:ext cx="386915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Virtualized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84068" y="4283869"/>
            <a:ext cx="3869159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VNFs running in VMs or Containers on commodity servers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1DE83C-D207-29E2-3DE9-02285D6F9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060" y="4733329"/>
            <a:ext cx="1231364" cy="41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68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OSI  Reference Model Blueprint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4" y="639643"/>
            <a:ext cx="4433515" cy="4433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600" y="2045527"/>
            <a:ext cx="3493145" cy="131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OSI model provides 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universal blueprint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how network communication is structured across seven distinct layers — each with a specific role and set of protocols.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5193357"/>
            <a:ext cx="4081165" cy="3671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211" y="5270525"/>
            <a:ext cx="3888730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Upper Layers (5–7)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89211" y="5402089"/>
            <a:ext cx="3888730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Application, session, and data formatting — where user-facing services live</a:t>
            </a:r>
            <a:endParaRPr lang="en-US" sz="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8892" y="5193357"/>
            <a:ext cx="4081165" cy="3671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04159" y="5270525"/>
            <a:ext cx="3888730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Lower Layers (1–4)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4704159" y="5402089"/>
            <a:ext cx="3888730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Transport, routing, switching, and physical transmission — the network fabric</a:t>
            </a:r>
            <a:endParaRPr lang="en-US" sz="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D4630A-D004-25D6-804D-FFAE0388A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060" y="4733329"/>
            <a:ext cx="1231364" cy="41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15615"/>
            <a:ext cx="8196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Virtual Network Functions (VNFs) Span OSI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77293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traditional hardware appliance maps to a VNF counterpart — operating at the same OSI layer, but running as software.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2046312"/>
            <a:ext cx="8196114" cy="2581573"/>
          </a:xfrm>
          <a:prstGeom prst="roundRect">
            <a:avLst>
              <a:gd name="adj" fmla="val 220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3943" y="2442046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943" y="2835399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3943" y="3228752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943" y="3622104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3943" y="4015457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8780" y="2051075"/>
            <a:ext cx="1227981" cy="390971"/>
          </a:xfrm>
          <a:custGeom>
            <a:avLst/>
            <a:gdLst/>
            <a:ahLst/>
            <a:cxnLst/>
            <a:rect l="l" t="t" r="r" b="b"/>
            <a:pathLst>
              <a:path w="1227981" h="390971">
                <a:moveTo>
                  <a:pt x="47395" y="0"/>
                </a:moveTo>
                <a:lnTo>
                  <a:pt x="1227981" y="0"/>
                </a:lnTo>
                <a:lnTo>
                  <a:pt x="1227981" y="390971"/>
                </a:lnTo>
                <a:lnTo>
                  <a:pt x="0" y="390971"/>
                </a:lnTo>
                <a:lnTo>
                  <a:pt x="0" y="47395"/>
                </a:lnTo>
                <a:arcTo wR="47395" hR="47395" stAng="10800000" swAng="5400000"/>
                <a:close/>
              </a:path>
            </a:pathLst>
          </a:custGeom>
          <a:solidFill>
            <a:srgbClr val="C91313"/>
          </a:solidFill>
          <a:ln/>
        </p:spPr>
      </p:sp>
      <p:sp>
        <p:nvSpPr>
          <p:cNvPr id="11" name="Text 9"/>
          <p:cNvSpPr/>
          <p:nvPr/>
        </p:nvSpPr>
        <p:spPr>
          <a:xfrm>
            <a:off x="614139" y="2137023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06761" y="2051075"/>
            <a:ext cx="2455962" cy="390971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1842120" y="2137023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Function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2723" y="2051075"/>
            <a:ext cx="2455962" cy="390971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8082" y="2137023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Traditional Appliance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18684" y="2051075"/>
            <a:ext cx="2046610" cy="390971"/>
          </a:xfrm>
          <a:custGeom>
            <a:avLst/>
            <a:gdLst/>
            <a:ahLst/>
            <a:cxnLst/>
            <a:rect l="l" t="t" r="r" b="b"/>
            <a:pathLst>
              <a:path w="2046610" h="390971">
                <a:moveTo>
                  <a:pt x="0" y="0"/>
                </a:moveTo>
                <a:lnTo>
                  <a:pt x="1999215" y="0"/>
                </a:lnTo>
                <a:arcTo wR="47395" hR="47395" stAng="16200000" swAng="5400000"/>
                <a:lnTo>
                  <a:pt x="2046610" y="390971"/>
                </a:lnTo>
                <a:lnTo>
                  <a:pt x="0" y="390971"/>
                </a:lnTo>
                <a:lnTo>
                  <a:pt x="0" y="0"/>
                </a:lnTo>
                <a:close/>
              </a:path>
            </a:pathLst>
          </a:cu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044" y="2137023"/>
            <a:ext cx="2233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VNF Counterpart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139" y="2530376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42120" y="2530376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8082" y="2530376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Balancers, WAF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54044" y="2530376"/>
            <a:ext cx="2233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 WAF, API Gateways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139" y="2923729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L4–5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2120" y="2923729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Transport / Session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8082" y="2923729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Firewalls, NAT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54044" y="2923729"/>
            <a:ext cx="2233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vFW, vNAT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139" y="3317081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42120" y="3317081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8082" y="3317081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54044" y="3317081"/>
            <a:ext cx="2233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vRouter, IPsec VPNs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4139" y="3710434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42120" y="3710434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Link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8082" y="3710434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 Switches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54044" y="3710434"/>
            <a:ext cx="2233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vSwitch, Open vSwitch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139" y="4103787"/>
            <a:ext cx="14144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42120" y="4103787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8082" y="4103787"/>
            <a:ext cx="218524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Interface Cards (NICs), cables, transceivers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54044" y="4103787"/>
            <a:ext cx="177589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 NICs (vNICs), virtual network interfaces</a:t>
            </a:r>
            <a:endParaRPr lang="en-US" sz="10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F0B2E41-EE94-31E8-A2E1-20D571A18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060" y="4733329"/>
            <a:ext cx="1231364" cy="41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42" y="375940"/>
            <a:ext cx="3293715" cy="4391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500211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NFV Architectural Framework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73943" y="2039615"/>
            <a:ext cx="2315840" cy="1450851"/>
          </a:xfrm>
          <a:prstGeom prst="roundRect">
            <a:avLst>
              <a:gd name="adj" fmla="val 392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065" y="2179737"/>
            <a:ext cx="20355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VNFs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065" y="2483569"/>
            <a:ext cx="203559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Operate at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Layers 2–7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depending on function — firewalls, routers, load balancers, all virtualized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5142" y="2039615"/>
            <a:ext cx="2315914" cy="1450851"/>
          </a:xfrm>
          <a:prstGeom prst="roundRect">
            <a:avLst>
              <a:gd name="adj" fmla="val 392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5264" y="2179737"/>
            <a:ext cx="203567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NFV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5264" y="2483569"/>
            <a:ext cx="203567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Infrastructure layer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compute, storage, and networking hardware abstracted by a hypervisor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943" y="3625825"/>
            <a:ext cx="4767114" cy="1017463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065" y="3765947"/>
            <a:ext cx="448687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4065" y="4069779"/>
            <a:ext cx="448687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Management &amp; Orchestration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governs lifecycle, deployment, and scaling across all layers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66130"/>
            <a:ext cx="8196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Implementation Challenges in Virtualizing OSI Layers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791742"/>
            <a:ext cx="2653829" cy="26538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2933" y="1712416"/>
            <a:ext cx="1647006" cy="28125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84898" y="1805211"/>
            <a:ext cx="203076" cy="2539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3617342" y="2273052"/>
            <a:ext cx="133818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Performance &amp; Latency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617342" y="2853705"/>
            <a:ext cx="1338188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x86 software is slower than hardware ASICs. Mitigated with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DPDK and SR-IOV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acceleration techniques.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5298" y="1712416"/>
            <a:ext cx="1647006" cy="28125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67264" y="1805211"/>
            <a:ext cx="203076" cy="2539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399708" y="2273052"/>
            <a:ext cx="133818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Virtual Switching Overheads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399708" y="3076352"/>
            <a:ext cx="1338188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Inter-VM packet routing drives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 CPU utilization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creating bottlenecks at scale.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7664" y="1712416"/>
            <a:ext cx="1647081" cy="28125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49629" y="1805211"/>
            <a:ext cx="203076" cy="2539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7182073" y="2273052"/>
            <a:ext cx="133826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Security &amp; Isolation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182073" y="2853705"/>
            <a:ext cx="1338263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Multi-tenancy risks — a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hypervisor compromise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can threaten all virtualized layers simultaneously.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E8F5F1-93E4-023D-8C66-E0BCEE851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060" y="4733329"/>
            <a:ext cx="1231364" cy="41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42" y="375940"/>
            <a:ext cx="3293715" cy="4391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648146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Summary &amp; Future Outlook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694" y="1746275"/>
            <a:ext cx="203076" cy="2030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954" y="1742108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Paradigm Shift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13954" y="2045940"/>
            <a:ext cx="432710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 boxes give way to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flexible software services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spanning the full OSI stack — agile, scalable, and cost-efficient.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694" y="2754288"/>
            <a:ext cx="203076" cy="2030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954" y="2750121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913954" y="3053953"/>
            <a:ext cx="432710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NFV changes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where and how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layer functions execute — not what they do. The OSI model remains the constant foundation.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694" y="3762301"/>
            <a:ext cx="203076" cy="2030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3954" y="3758133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Horizon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13954" y="4061966"/>
            <a:ext cx="432710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NFV + SDN + cloud-native microservices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converge to power 5G/6G networks and distributed edge computing at global scale.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449</Words>
  <Application>Microsoft Office PowerPoint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DM Sans</vt:lpstr>
      <vt:lpstr>Dela Gothic One</vt:lpstr>
      <vt:lpstr>Calibri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lakshmanara123@gmail.com</cp:lastModifiedBy>
  <cp:revision>4</cp:revision>
  <dcterms:created xsi:type="dcterms:W3CDTF">2026-08-02T16:48:26Z</dcterms:created>
  <dcterms:modified xsi:type="dcterms:W3CDTF">2026-08-03T05:52:28Z</dcterms:modified>
</cp:coreProperties>
</file>